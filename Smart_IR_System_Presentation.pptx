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54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40AF"/>
                </a:solidFill>
                <a:latin typeface="Arial"/>
              </a:defRPr>
            </a:pPr>
            <a:r>
              <a:t>YESHWANTRAO CHAVAN COLLEGE OF ENGINEERING, NAGPUR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(An Autonomous Institution Affiliated to RTM Nagpur University) | Department of Computer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468880"/>
          </a:xfrm>
          <a:prstGeom prst="round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66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93C5FD"/>
                </a:solidFill>
                <a:latin typeface="Arial"/>
              </a:defRPr>
            </a:pPr>
            <a:r>
              <a:t>FINAL YEAR CAPSTONE PROJECT</a:t>
            </a:r>
          </a:p>
          <a:p>
            <a:pPr>
              <a:spcAft>
                <a:spcPts val="6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Smart Research Paper Information Retrieval System</a:t>
            </a:r>
          </a:p>
          <a:p>
            <a:pPr>
              <a:defRPr sz="1400">
                <a:solidFill>
                  <a:srgbClr val="E2E8F0"/>
                </a:solidFill>
                <a:latin typeface="Arial"/>
              </a:defRPr>
            </a:pPr>
            <a:r>
              <a:t>Using Classical Lexical and Semantic Information Retrieval with Live arXiv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2834430" cy="9335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rPr dirty="0"/>
              <a:t>Presented By:</a:t>
            </a:r>
          </a:p>
          <a:p>
            <a:pPr>
              <a:spcAft>
                <a:spcPts val="200"/>
              </a:spcAft>
              <a:defRPr sz="1600" b="1">
                <a:solidFill>
                  <a:srgbClr val="0F2A4A"/>
                </a:solidFill>
                <a:latin typeface="Arial"/>
              </a:defRPr>
            </a:pPr>
            <a:r>
              <a:rPr dirty="0"/>
              <a:t>Tarang Ambildhuke</a:t>
            </a:r>
          </a:p>
          <a:p>
            <a:pPr>
              <a:spcAft>
                <a:spcPts val="200"/>
              </a:spcAft>
              <a:defRPr sz="1200" b="1">
                <a:solidFill>
                  <a:srgbClr val="1E40AF"/>
                </a:solidFill>
                <a:latin typeface="Arial"/>
              </a:defRPr>
            </a:pPr>
            <a:r>
              <a:rPr dirty="0"/>
              <a:t>Roll Number: 161</a:t>
            </a:r>
          </a:p>
          <a:p>
            <a:pPr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 err="1"/>
              <a:t>B.Tech</a:t>
            </a:r>
            <a:r>
              <a:rPr dirty="0"/>
              <a:t> - </a:t>
            </a:r>
            <a:r>
              <a:rPr lang="en-IN" dirty="0"/>
              <a:t>Information</a:t>
            </a:r>
            <a:r>
              <a:rPr dirty="0"/>
              <a:t> Technology (2026 - 2027)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4297680"/>
            <a:ext cx="3478837" cy="918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  <a:latin typeface="Arial"/>
              </a:defRPr>
            </a:pPr>
            <a:r>
              <a:rPr dirty="0"/>
              <a:t>Under the Guidance of:</a:t>
            </a:r>
          </a:p>
          <a:p>
            <a:pPr>
              <a:spcAft>
                <a:spcPts val="200"/>
              </a:spcAft>
              <a:defRPr sz="1600" b="1">
                <a:solidFill>
                  <a:srgbClr val="0F2A4A"/>
                </a:solidFill>
                <a:latin typeface="Arial"/>
              </a:defRPr>
            </a:pPr>
            <a:r>
              <a:rPr dirty="0"/>
              <a:t>Prof. Sushil Chavhan Sir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Assistant Professor, Dept. of </a:t>
            </a:r>
            <a:r>
              <a:rPr lang="en-IN" dirty="0"/>
              <a:t>Information</a:t>
            </a:r>
            <a:r>
              <a:rPr dirty="0"/>
              <a:t> Technology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rPr dirty="0"/>
              <a:t>YCCE Nagpur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65252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4A"/>
                </a:solidFill>
                <a:latin typeface="Arial"/>
              </a:defRPr>
            </a:pPr>
            <a:r>
              <a:rPr dirty="0"/>
              <a:t>The Core Challenge in Literature Search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Massive Influx of Scientific Papers: Repositories like </a:t>
            </a:r>
            <a:r>
              <a:rPr dirty="0" err="1"/>
              <a:t>arXiv</a:t>
            </a:r>
            <a:r>
              <a:rPr dirty="0"/>
              <a:t> publish thousands of scientific preprints every month.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Traditional Keyword Search Limitations: Standard search engines rely on exact string / lexical matching (TF-IDF / BM25).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The Vocabulary Mismatch Problem: A query 'deep learning medical diagnosis' fails to retrieve relevant papers titled 'convolutional neural networks for clinical radiography' if the exact terms are absent.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False-Positive Noise: Lexical search often elevates irrelevant papers simply because generic terms like 'machine learning' repeat frequently in census or statistical papers.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8442" y="2165252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rPr dirty="0"/>
              <a:t>Project Motivation &amp; Proposed Solution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Semantic Intelligence: Leverage pre-trained Sentence Transformers to capture deep contextual meaning rather than literal word counts.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Vector Similarity Search: Index dense embeddings in high-dimensional space (384-D) using Facebook AI Similarity Search (FAISS).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Live </a:t>
            </a:r>
            <a:r>
              <a:rPr dirty="0" err="1"/>
              <a:t>arXiv</a:t>
            </a:r>
            <a:r>
              <a:rPr dirty="0"/>
              <a:t> Integration: Search dynamically against live </a:t>
            </a:r>
            <a:r>
              <a:rPr dirty="0" err="1"/>
              <a:t>arXiv</a:t>
            </a:r>
            <a:r>
              <a:rPr dirty="0"/>
              <a:t> preprints rather than outdated static local snapshots.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Practical Student Setup: 100% free, runs locally on consumer CPU hardware without requiring expensive GPU infrastructure.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Direct PDF Access: Instant full-text view straight from </a:t>
            </a:r>
            <a:r>
              <a:rPr dirty="0" err="1"/>
              <a:t>arXiv</a:t>
            </a:r>
            <a:r>
              <a:rPr dirty="0"/>
              <a:t> official servers without exhausting local disk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2.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Project Objectives &amp;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1. Dynamic Ingestion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Connect to live arXiv REST API to retrieve real-time scientific papers, titles, abstracts, and metadata on demand.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63040"/>
            <a:ext cx="51206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39" y="1600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2. Dual-Paradigm IR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Implement both Classical Lexical Search (TF-IDF) and Semantic Vector Search (MiniLM + FAISS) for clear comparative study.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51206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3. Dense Vector Indexing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Utilize Sentence-Transformers (all-MiniLM-L6-v2) to map paper abstracts into 384-dimensional unit vectors for L2 distance ranking.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017520"/>
            <a:ext cx="51206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39" y="3154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4. Scientific Benchmarking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Evaluate retrieval quality against the published BEIR benchmark (NeurIPS 2021) on the SciFact dataset using standard IR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51206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5. Abstract Summarization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Integrate automated text summarization to present fast 2-3 sentence overviews of top-ranked research papers.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572000"/>
            <a:ext cx="51206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39" y="47091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E40AF"/>
                </a:solidFill>
                <a:latin typeface="Arial"/>
              </a:defRPr>
            </a:pPr>
            <a:r>
              <a:t>6. Intuitive Web Interface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Deploy a clean, responsive Flask web application for convenient interactive searching by students and researchers.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3.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Classical (Lexical) vs. Semantic Information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Classical Lexical IR (TF-IDF / BM25)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Semantic Dense IR (MiniLM + FAISS)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Matching Mechanism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Exact string keyword matching; counts word frequencies across documents.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Conceptual semantic similarity; encodes text into dense 384-D vector space.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Synonym &amp; Context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Fails on synonyms (e.g., 'doctor' vs 'physician'). Incapable of understanding context.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Recognizes synonyms, contextual relations, and cross-domain concepts naturally.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Mathematical Foundation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TF-IDF = TF(t, d) × ln(N / (DF(t) + 1))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Cosine similarity over sparse high-dim vocabulary.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Transformer Self-Attention Distillation.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Euclidean / Cosine distance over dense vectors in FAISS.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Strengths &amp; Weaknesses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Extremely fast, low RAM.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Weakness: High false-positives and missed relevant papers.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rPr dirty="0"/>
                        <a:t>Superior ranking precision (MAP/MRR).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rPr dirty="0"/>
                        <a:t>Weakness: Higher compute cost for vector encoding.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937760"/>
            <a:ext cx="1069848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227958" cy="625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E40AF"/>
                </a:solidFill>
                <a:latin typeface="Arial"/>
              </a:defRPr>
            </a:pPr>
            <a:r>
              <a:rPr dirty="0"/>
              <a:t>Key Insight for Information Retrieval: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rPr dirty="0"/>
              <a:t>While classical lexical models (TF-IDF) remain useful for finding rare scientific terms (e.g. specific chemical or gene names), semantic dense retrieval ensures that papers addressing the true conceptual problem are ranked at #1 or #2, vastly reducing researcher search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4.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System Architecture &amp;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597855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E40AF"/>
                </a:solidFill>
                <a:latin typeface="Arial"/>
              </a:defRPr>
            </a:pPr>
            <a:r>
              <a:rPr sz="1400"/>
              <a:t>STEP 1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0F2A4A"/>
                </a:solidFill>
                <a:latin typeface="Arial"/>
              </a:defRPr>
            </a:pPr>
            <a:r>
              <a:rPr sz="1400"/>
              <a:t>User Query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rPr sz="1400"/>
              <a:t>User inputs plain english search query</a:t>
            </a:r>
            <a:br>
              <a:rPr sz="1400"/>
            </a:br>
            <a:r>
              <a:rPr sz="1400"/>
              <a:t>(e.g., 'deep learning cancer detection')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783080"/>
            <a:ext cx="1597855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E40AF"/>
                </a:solidFill>
                <a:latin typeface="Arial"/>
              </a:defRPr>
            </a:pPr>
            <a:r>
              <a:rPr sz="1400"/>
              <a:t>STEP 2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0F2A4A"/>
                </a:solidFill>
                <a:latin typeface="Arial"/>
              </a:defRPr>
            </a:pPr>
            <a:r>
              <a:rPr sz="1400"/>
              <a:t>arXiv API Ingestion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rPr sz="1400"/>
              <a:t>Queries live arXiv API using urllib/arxiv client to fetch top 10 relevant candidate papers.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783080"/>
            <a:ext cx="1597855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E40AF"/>
                </a:solidFill>
                <a:latin typeface="Arial"/>
              </a:defRPr>
            </a:pPr>
            <a:r>
              <a:rPr sz="1400"/>
              <a:t>STEP 3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0F2A4A"/>
                </a:solidFill>
                <a:latin typeface="Arial"/>
              </a:defRPr>
            </a:pPr>
            <a:r>
              <a:rPr sz="1400"/>
              <a:t>MiniLM Embedding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rPr sz="1400"/>
              <a:t>Converts query &amp; abstracts into normalized 384-dimensional dense vectors.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5" y="1783080"/>
            <a:ext cx="1597855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E40AF"/>
                </a:solidFill>
                <a:latin typeface="Arial"/>
              </a:defRPr>
            </a:pPr>
            <a:r>
              <a:rPr sz="1400"/>
              <a:t>STEP 4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0F2A4A"/>
                </a:solidFill>
                <a:latin typeface="Arial"/>
              </a:defRPr>
            </a:pPr>
            <a:r>
              <a:rPr sz="1400"/>
              <a:t>FAISS Similarity Search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rPr sz="1400"/>
              <a:t>Initializes IndexFlatL2; calculates L2 Euclidean distance &amp; similarity scores.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783080"/>
            <a:ext cx="1597855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E40AF"/>
                </a:solidFill>
                <a:latin typeface="Arial"/>
              </a:defRPr>
            </a:pPr>
            <a:r>
              <a:rPr sz="1400"/>
              <a:t>STEP 5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0F2A4A"/>
                </a:solidFill>
                <a:latin typeface="Arial"/>
              </a:defRPr>
            </a:pPr>
            <a:r>
              <a:rPr sz="1400"/>
              <a:t>Re-ranking &amp; Summarization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rPr sz="1400"/>
              <a:t>Sorts papers by highest semantic similarity; extracts concise 2-3 sentence AI summary.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783080"/>
            <a:ext cx="1597855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1E40AF"/>
                </a:solidFill>
                <a:latin typeface="Arial"/>
              </a:defRPr>
            </a:pPr>
            <a:r>
              <a:rPr sz="1400"/>
              <a:t>STEP 6</a:t>
            </a:r>
          </a:p>
          <a:p>
            <a:pPr algn="ctr">
              <a:spcAft>
                <a:spcPts val="1000"/>
              </a:spcAft>
              <a:defRPr sz="1200" b="1">
                <a:solidFill>
                  <a:srgbClr val="0F2A4A"/>
                </a:solidFill>
                <a:latin typeface="Arial"/>
              </a:defRPr>
            </a:pPr>
            <a:r>
              <a:rPr sz="1400"/>
              <a:t>Flask Web UI</a:t>
            </a:r>
          </a:p>
          <a:p>
            <a:pPr algn="ctr">
              <a:defRPr sz="950">
                <a:solidFill>
                  <a:srgbClr val="1E293B"/>
                </a:solidFill>
                <a:latin typeface="Arial"/>
              </a:defRPr>
            </a:pPr>
            <a:r>
              <a:rPr sz="1400"/>
              <a:t>Renders responsive Bootstrap card interface with rank, score, summary, and PDF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5.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Implementation Details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4A"/>
                </a:solidFill>
                <a:latin typeface="Arial"/>
              </a:defRPr>
            </a:pPr>
            <a:r>
              <a:rPr dirty="0"/>
              <a:t>Modular Software Components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app.py (Controller &amp; Routing): Flask web application serving search endpoints, managing session flow, and rendering HTML templates.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fetch_papers.py (Data Ingestion): Interfaces directly with official </a:t>
            </a:r>
            <a:r>
              <a:rPr dirty="0" err="1"/>
              <a:t>arXiv</a:t>
            </a:r>
            <a:r>
              <a:rPr dirty="0"/>
              <a:t> API via search client; extracts metadata, summaries, and PDF URLs.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embedder.py (Dense Encoder): Implements lazy-loaded Sentence-Transformers ('all-MiniLM-L6-v2') converting queries and abstracts into 384-D arrays.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search_engine.py (FAISS Vector Index): Uses faiss.IndexFlatL2 to add document vectors, query distances, and compute similarity scores.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summarizer.py (AI Summarization): Distills lengthy abstracts into clean, readable 2-3 sentence executive summaries.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templates/index.html: Clean Bootstrap 5 UI designed for student ease-of-use with instant PDF access buttons.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8440" y="1938528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rPr dirty="0"/>
              <a:t>Key Technologies Utilized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Python 3.11: Core programming language ensuring cross-platform stability and fast execution.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Sentence-Transformers: Hugging Face library providing pre-trained transformer embeddings.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all-MiniLM-L6-v2: Distilled 6-layer BERT model (22.7M parameters) offering 5x faster CPU inference.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FAISS (Facebook AI Similarity Search): Industrial-grade C++ vector similarity engine with Python bindings.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arXiv</a:t>
            </a:r>
            <a:r>
              <a:rPr dirty="0"/>
              <a:t> API: Official REST API accessing over 2 million scientific papers dynamically.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Flask 3.1: Lightweight WSGI web application framework.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BEIR Benchmark: </a:t>
            </a:r>
            <a:r>
              <a:rPr dirty="0" err="1"/>
              <a:t>NeurIPS</a:t>
            </a:r>
            <a:r>
              <a:rPr dirty="0"/>
              <a:t> 2021 framework used for standard academic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6.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Experimental Results: BEIR Paper vs. Our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Author's BM25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(BEIR Paper)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Our TF-IDF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(Our Lexical)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Author's MiniLM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(BEIR Paper)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Our MiniLM System</a:t>
                      </a:r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(Our Semantic Engine)</a:t>
                      </a:r>
                    </a:p>
                  </a:txBody>
                  <a:tcPr>
                    <a:solidFill>
                      <a:srgbClr val="0F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nDCG@10 (Ranking Quality)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0.6650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0.5722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0.6426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0.6203 (Matches within 2.3%)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MAP@10 (Mean Avg Precision)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0.5722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0.5980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0.6203 (Beats author by +2.2%)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Recall@10 (Coverage)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0.8750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0.8387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0.8640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0.8058 (Captures &gt;80% relevant)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Precision@10 (Accuracy)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0.0910 (Higher than paper MiniLM)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MRR (Mean Reciprocal Rank)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0.5853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0.6380 (Relevant doc near top)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2A4A"/>
                          </a:solidFill>
                          <a:latin typeface="Arial"/>
                        </a:defRPr>
                      </a:pPr>
                      <a:r>
                        <a:t>Execution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~3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1.8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~15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14.7 seconds (10x Faster on CPU)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03520"/>
            <a:ext cx="10698480" cy="546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Benchmark Dataset: SciFact (BEIR) | Reference Paper: BEIR: A Heterogeneous Benchmark for Zero-shot Evaluation of IR Models (NeurIPS 2021) | Code: beir-cellar/beir</a:t>
            </a:r>
          </a:p>
          <a:p>
            <a:pPr>
              <a:defRPr sz="1000" b="1">
                <a:solidFill>
                  <a:srgbClr val="10955D"/>
                </a:solidFill>
                <a:latin typeface="Arial"/>
              </a:defRPr>
            </a:pPr>
            <a:r>
              <a:t>Key Takeaway: Our local MiniLM implementation replicates the author's published nDCG@10 within 2.3% and surpasses their published MAP@10 (0.6203 vs 0.5980), confirming high semantic retrieval fidelity without requiring heavy GPU servers.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7.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Case Study: Real Query Demonstration &amp; Rank Shifts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548640"/>
          </a:xfrm>
          <a:prstGeom prst="round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Test Query: 'machine learning for medical diagnosis'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0671" y="2583180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4A"/>
                </a:solidFill>
                <a:latin typeface="Arial"/>
              </a:defRPr>
            </a:pPr>
            <a:r>
              <a:rPr dirty="0"/>
              <a:t>Baseline: </a:t>
            </a:r>
            <a:r>
              <a:rPr dirty="0" err="1"/>
              <a:t>arXiv</a:t>
            </a:r>
            <a:r>
              <a:rPr dirty="0"/>
              <a:t> Keyword Match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 #1: Medical Knowledge-Guided Deep Curriculum Learning for Elbow Fracture Diagnosis</a:t>
            </a:r>
            <a:br>
              <a:rPr dirty="0"/>
            </a:br>
            <a:r>
              <a:rPr dirty="0"/>
              <a:t>  (Very narrow fracture application)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 #2: Changing Data Sources in the Age of Machine Learning for Official Statistics</a:t>
            </a:r>
            <a:br>
              <a:rPr dirty="0"/>
            </a:br>
            <a:r>
              <a:rPr dirty="0"/>
              <a:t>  ⚠️ False Positive! High keyword overlap with 'Machine Learning', but completely unrelated to medical care (Census statistics).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 #3: DOME: Recommendations for Supervised ML Validation in Biology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 #4: Privacy-Preserving Machine Learning for Healthcare: Open Challenges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03120"/>
            <a:ext cx="5120640" cy="411480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48511" y="2583180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rPr dirty="0"/>
              <a:t>Our System: </a:t>
            </a:r>
            <a:r>
              <a:rPr dirty="0" err="1"/>
              <a:t>MiniLM</a:t>
            </a:r>
            <a:r>
              <a:rPr dirty="0"/>
              <a:t> + FAISS Semantic Re-ranking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 #1 (▲ was #3): DOME: Recommendations for Supervised ML Validation in Biology</a:t>
            </a:r>
            <a:br>
              <a:rPr dirty="0"/>
            </a:br>
            <a:r>
              <a:rPr dirty="0"/>
              <a:t>  (Broad, foundational diagnostic methodology).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 #2 (▲ was #4): Privacy-Preserving Machine Learning for Healthcare</a:t>
            </a:r>
            <a:br>
              <a:rPr dirty="0"/>
            </a:br>
            <a:r>
              <a:rPr dirty="0"/>
              <a:t>  (Directly addresses clinical patient data privacy).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 #3 (▼ was #1): Medical Knowledge-Guided Deep Curriculum Learning for Elbow Fractures.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Noise Filtered Out: The census statistics paper was correctly demoted because semantic embedding detected lack of medical context!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8.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Interactive Web Application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809" y="198882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4A"/>
                </a:solidFill>
                <a:latin typeface="Arial"/>
              </a:defRPr>
            </a:pPr>
            <a:r>
              <a:rPr dirty="0"/>
              <a:t>User Interface Design Highlights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Modern Minimalist UI: Built using Bootstrap 5 with responsive desktop and mobile views.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Single Search Experience: Clean, distraction-free search input field with instant query submission.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Ranked Result Cards: Each paper displayed with its semantic rank (#1, #2, ...), similarity score, and full title.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AI-Generated Summary: 2-3 sentence overview highlighting the paper's key methodology and findings.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One-Click PDF Access: Direct button opening official </a:t>
            </a:r>
            <a:r>
              <a:rPr dirty="0" err="1"/>
              <a:t>arXiv</a:t>
            </a:r>
            <a:r>
              <a:rPr dirty="0"/>
              <a:t> preprint PDF in a new browser tab.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Fast Local Execution: Sub-second response times on standard consumer laptops.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3751" y="198882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rPr dirty="0"/>
              <a:t>Local Deployment Workflow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1. Activate Virtual Environment:</a:t>
            </a:r>
            <a:br>
              <a:rPr dirty="0"/>
            </a:br>
            <a:r>
              <a:rPr dirty="0"/>
              <a:t>   .\</a:t>
            </a:r>
            <a:r>
              <a:rPr dirty="0" err="1"/>
              <a:t>venv</a:t>
            </a:r>
            <a:r>
              <a:rPr dirty="0"/>
              <a:t>\Scripts\activate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2. Start Web Server:</a:t>
            </a:r>
            <a:br>
              <a:rPr dirty="0"/>
            </a:br>
            <a:r>
              <a:rPr dirty="0"/>
              <a:t>   python app.py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3. Access Interface:</a:t>
            </a:r>
            <a:br>
              <a:rPr dirty="0"/>
            </a:br>
            <a:r>
              <a:rPr dirty="0"/>
              <a:t>   Open browser at http://127.0.0.1:5000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4. Enter Scientific Query:</a:t>
            </a:r>
            <a:br>
              <a:rPr dirty="0"/>
            </a:br>
            <a:r>
              <a:rPr dirty="0"/>
              <a:t>   e.g., 'quantum computing cryptography' or 'graph neural networks drug discovery'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5. Instant Results:</a:t>
            </a:r>
            <a:br>
              <a:rPr dirty="0"/>
            </a:br>
            <a:r>
              <a:rPr dirty="0"/>
              <a:t>   </a:t>
            </a:r>
            <a:r>
              <a:rPr dirty="0" err="1"/>
              <a:t>arXiv</a:t>
            </a:r>
            <a:r>
              <a:rPr dirty="0"/>
              <a:t> API fetches candidate papers, </a:t>
            </a:r>
            <a:r>
              <a:rPr dirty="0" err="1"/>
              <a:t>MiniLM</a:t>
            </a:r>
            <a:r>
              <a:rPr dirty="0"/>
              <a:t> embeds abstracts, FAISS re-ranks in milliseconds!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9.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Conclusion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2A4A"/>
                </a:solidFill>
                <a:latin typeface="Arial"/>
              </a:defRPr>
            </a:pPr>
            <a:r>
              <a:rPr dirty="0"/>
              <a:t>Summary of Project Achievements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Successfully Solved Vocabulary Mismatch: Replaced naive word-matching with deep 384-dimensional dense semantic representations.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Replicated Top-Tier Published Research: Validated performance against the BEIR </a:t>
            </a:r>
            <a:r>
              <a:rPr dirty="0" err="1"/>
              <a:t>NeurIPS</a:t>
            </a:r>
            <a:r>
              <a:rPr dirty="0"/>
              <a:t> 2021 benchmark within 2.3% on </a:t>
            </a:r>
            <a:r>
              <a:rPr dirty="0" err="1"/>
              <a:t>SciFact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Outperformed Baseline on Key Metrics: Our semantic engine achieved higher MAP (0.6203 vs 0.5722) and MRR (0.6380 vs 0.5853) than classical TF-IDF.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Lightweight &amp; Completely Free: Runs fully offline and locally without paid APIs or dedicated GPU hardware.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Delivered Working Software: Developed an end-to-end usable Flask search platform connected live to </a:t>
            </a:r>
            <a:r>
              <a:rPr dirty="0" err="1"/>
              <a:t>arXiv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8442" y="1938528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40AF"/>
                </a:solidFill>
                <a:latin typeface="Arial"/>
              </a:defRPr>
            </a:pPr>
            <a:r>
              <a:rPr dirty="0"/>
              <a:t>Future Enhancements &amp; Next Steps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Reciprocal Rank Fusion (RRF): Dynamically blend BM25 exact keyword matches with </a:t>
            </a:r>
            <a:r>
              <a:rPr dirty="0" err="1"/>
              <a:t>MiniLM</a:t>
            </a:r>
            <a:r>
              <a:rPr dirty="0"/>
              <a:t> semantic vectors.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Cross-Encoder Re-Ranking: Implement a secondary cross-encoder (e.g. ms-marco-MiniLM-L-6-v2) for ultra-precise re-ranking of top 20 candidates.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Citation Graph Awareness: Incorporate citation relationships (SPECTER) to boost papers with higher academic impact.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Full PDF Text Parsing: Extend indexing from abstracts to complete 10-page paper bodies using </a:t>
            </a:r>
            <a:r>
              <a:rPr dirty="0" err="1"/>
              <a:t>Grobid</a:t>
            </a:r>
            <a:r>
              <a:rPr dirty="0"/>
              <a:t> / </a:t>
            </a:r>
            <a:r>
              <a:rPr dirty="0" err="1"/>
              <a:t>PyMuPDF</a:t>
            </a:r>
            <a:r>
              <a:rPr dirty="0"/>
              <a:t>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rPr dirty="0"/>
              <a:t>• Domain Filtering: Allow users to filter search results by </a:t>
            </a:r>
            <a:r>
              <a:rPr dirty="0" err="1"/>
              <a:t>arXiv</a:t>
            </a:r>
            <a:r>
              <a:rPr dirty="0"/>
              <a:t> subject categories (cs.AI, stat.ML, q-bio).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  <a:latin typeface="Arial"/>
              </a:defRPr>
            </a:pPr>
            <a:r>
              <a:t>10.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A4A"/>
                </a:solidFill>
                <a:latin typeface="Arial"/>
              </a:defRPr>
            </a:pPr>
            <a:r>
              <a:t>Academic References &amp;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Tarang Ambildhuke (Roll No: 161) | YCCE Nagpur | Guided by Prof. Sushil Chavhan Sir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0927" y="1774874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F2A4A"/>
                </a:solidFill>
                <a:latin typeface="Arial"/>
              </a:defRPr>
            </a:pPr>
            <a:r>
              <a:rPr dirty="0"/>
              <a:t>Key Scientific Literature Cited in this Capstone Project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[1] N. Thakur, N. Reimers, A. </a:t>
            </a:r>
            <a:r>
              <a:rPr dirty="0" err="1"/>
              <a:t>Rücklé</a:t>
            </a:r>
            <a:r>
              <a:rPr dirty="0"/>
              <a:t>, A. Srivastava, and I. </a:t>
            </a:r>
            <a:r>
              <a:rPr dirty="0" err="1"/>
              <a:t>Gurevych</a:t>
            </a:r>
            <a:r>
              <a:rPr dirty="0"/>
              <a:t>, 'BEIR: A Heterogeneous Benchmark for Zero-shot Evaluation of Information Retrieval Models,' in Proc. Neural Information Processing Systems (</a:t>
            </a:r>
            <a:r>
              <a:rPr dirty="0" err="1"/>
              <a:t>NeurIPS</a:t>
            </a:r>
            <a:r>
              <a:rPr dirty="0"/>
              <a:t>) Datasets and Benchmarks Track, 2021. arXiv:2104.08663.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[2] N. Reimers and I. </a:t>
            </a:r>
            <a:r>
              <a:rPr dirty="0" err="1"/>
              <a:t>Gurevych</a:t>
            </a:r>
            <a:r>
              <a:rPr dirty="0"/>
              <a:t>, 'Sentence-BERT: Sentence Embeddings using Siamese BERT-Networks,' in Proc. Conference on Empirical Methods in Natural Language Processing (EMNLP), 2019, pp. 3982–3992. arXiv:1908.10084.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[3] W. Wang, F. Wei, L. Dong, H. Bao, N. Yang, and M. Zhou, '</a:t>
            </a:r>
            <a:r>
              <a:rPr dirty="0" err="1"/>
              <a:t>MiniLM</a:t>
            </a:r>
            <a:r>
              <a:rPr dirty="0"/>
              <a:t>: Deep Self-Attention Distillation for Task-Agnostic Compression of Pre-Trained Transformers,' in Advances in Neural Information Processing Systems (</a:t>
            </a:r>
            <a:r>
              <a:rPr dirty="0" err="1"/>
              <a:t>NeurIPS</a:t>
            </a:r>
            <a:r>
              <a:rPr dirty="0"/>
              <a:t>), 2020. arXiv:2002.10957.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[4] J. Johnson, M. </a:t>
            </a:r>
            <a:r>
              <a:rPr dirty="0" err="1"/>
              <a:t>Douze</a:t>
            </a:r>
            <a:r>
              <a:rPr dirty="0"/>
              <a:t>, and H. Jégou, 'Billion-scale similarity search with GPUs,' IEEE Transactions on Big Data, vol. 7, no. 3, pp. 535–547, 2019. arXiv:1702.08734.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[5] M. Lewis et al., 'BART: Denoising Sequence-to-Sequence Pre-training for Natural Language Generation, Translation, and Comprehension,' in Proc. 58th Annual Meeting of the Association for Computational Linguistics (ACL), 2020. arXiv:1910.13461.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  <a:latin typeface="Arial"/>
              </a:defRPr>
            </a:pPr>
            <a:r>
              <a:rPr dirty="0"/>
              <a:t>[6] D. Wadden et al., 'Fact or Fiction: Verifying Scientific Claims,' in Proc. Conference on Empirical Methods in Natural Language Processing (EMNLP), 2020. arXiv:2004.14974.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2400"/>
              </a:spcAft>
              <a:defRPr sz="1800" b="1">
                <a:solidFill>
                  <a:srgbClr val="93C5FD"/>
                </a:solidFill>
                <a:latin typeface="Arial"/>
              </a:defRPr>
            </a:pPr>
            <a:r>
              <a:t>Smart Research Paper Information Retrieval System</a:t>
            </a:r>
          </a:p>
          <a:p>
            <a:pPr algn="ctr">
              <a:spcAft>
                <a:spcPts val="6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Presented by: Tarang Ambildhuke  |  Roll No: 161</a:t>
            </a:r>
          </a:p>
          <a:p>
            <a:pPr algn="ctr">
              <a:spcAft>
                <a:spcPts val="6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Guided by: Prof. Sushil Chavhan Sir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Department of Computer Technology, YCCE Nagpur</a:t>
            </a:r>
          </a:p>
          <a:p>
            <a:pPr algn="ctr">
              <a:defRPr sz="1300" b="1">
                <a:solidFill>
                  <a:srgbClr val="10955D"/>
                </a:solidFill>
                <a:latin typeface="Arial"/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2428</Words>
  <Application>Microsoft Office PowerPoint</Application>
  <PresentationFormat>Widescreen</PresentationFormat>
  <Paragraphs>210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tarang ambildhuke</cp:lastModifiedBy>
  <cp:revision>4</cp:revision>
  <dcterms:created xsi:type="dcterms:W3CDTF">2013-01-27T09:14:16Z</dcterms:created>
  <dcterms:modified xsi:type="dcterms:W3CDTF">2026-10-05T06:50:09Z</dcterms:modified>
  <cp:category/>
</cp:coreProperties>
</file>